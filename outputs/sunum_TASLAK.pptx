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702552"/>
            <a:ext cx="11265408" cy="1554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238"/>
                </a:solidFill>
                <a:latin typeface="Aptos"/>
              </a:defRPr>
            </a:pPr>
            <a:r>
              <a:t>İSTANBUL RAYLI SİSTEM YOLCU AĞI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149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76B87"/>
                </a:solidFill>
                <a:latin typeface="Aptos"/>
              </a:defRPr>
            </a:pPr>
            <a:r>
              <a:t>İstasyon merkeziyeti, yolcu aktivitesi ve istasyon kapanma senaryosu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743200"/>
            <a:ext cx="9601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36276"/>
                </a:solidFill>
                <a:latin typeface="Aptos"/>
              </a:defRPr>
            </a:pPr>
            <a:r>
              <a:t>Sosyal Ağ Analizi • Oğuzhan Sapmaz • 2516016021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10515600" cy="822960"/>
          </a:xfrm>
          <a:prstGeom prst="roundRect">
            <a:avLst/>
          </a:prstGeom>
          <a:solidFill>
            <a:srgbClr val="FFF5F5"/>
          </a:solidFill>
          <a:ln>
            <a:solidFill>
              <a:srgbClr val="E6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10104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962F2F"/>
                </a:solidFill>
                <a:latin typeface="Aptos"/>
              </a:defRPr>
            </a:pPr>
            <a:r>
              <a:t>Önemli sınırlar: OD akışı yok; bazı isim/aktarma eşleştirmeleri ve 500 düğüm şartı ayrıca ele alınmalı.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702552"/>
            <a:ext cx="11265408" cy="1554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52238"/>
                </a:solidFill>
                <a:latin typeface="Aptos"/>
              </a:defRPr>
            </a:pPr>
            <a:r>
              <a:t>2025 CSV 135.783 kayıt ve 23 hat içeriyor.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19088"/>
            <a:ext cx="107899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0">
                <a:solidFill>
                  <a:srgbClr val="536276"/>
                </a:solidFill>
                <a:latin typeface="Aptos"/>
              </a:defRPr>
            </a:pPr>
            <a:r>
              <a:t>SOSYAL AĞ ANALİZİ  •  2025 VERİSİ  •  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237744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9888"/>
            <a:ext cx="215798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135,783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1965960"/>
            <a:ext cx="2231136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Kaynak kayıt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80160"/>
            <a:ext cx="237744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389888"/>
            <a:ext cx="215798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1965960"/>
            <a:ext cx="2231136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280160"/>
            <a:ext cx="237744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389888"/>
            <a:ext cx="215798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358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1965960"/>
            <a:ext cx="2231136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Farklı istasyon kodu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280160"/>
            <a:ext cx="237744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389888"/>
            <a:ext cx="215798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1965960"/>
            <a:ext cx="2231136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Kaynak sütun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104241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• Yıl: 2025; 12 ayın tamamında kayıt bulunuyor.</a:t>
            </a:r>
          </a:p>
          <a:p>
            <a:pPr>
              <a:spcAft>
                <a:spcPts val="13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• 728 kayıtta istasyon adı boş.</a:t>
            </a:r>
          </a:p>
          <a:p>
            <a:pPr>
              <a:spcAft>
                <a:spcPts val="13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• 0 tam yinelenen kaynak satırı tespit edildi.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702552"/>
            <a:ext cx="11265408" cy="1554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52238"/>
                </a:solidFill>
                <a:latin typeface="Aptos"/>
              </a:defRPr>
            </a:pPr>
            <a:r>
              <a:t>Koordinatlar analizden önce biçim ve aralık kontrolünden geçirildi.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19088"/>
            <a:ext cx="107899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0">
                <a:solidFill>
                  <a:srgbClr val="536276"/>
                </a:solidFill>
                <a:latin typeface="Aptos"/>
              </a:defRPr>
            </a:pPr>
            <a:r>
              <a:t>SOSYAL AĞ ANALİZİ  •  2025 VERİSİ  •  3/9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4241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3445"/>
                </a:solidFill>
                <a:latin typeface="Aptos"/>
              </a:defRPr>
            </a:pPr>
            <a:r>
              <a:t>• Kaynakta longitude/latitude alanları gruplu noktalar nedeniyle standart ondalık biçimde değil.</a:t>
            </a:r>
          </a:p>
          <a:p>
            <a:pPr>
              <a:spcAft>
                <a:spcPts val="1300"/>
              </a:spcAft>
              <a:defRPr sz="1700">
                <a:solidFill>
                  <a:srgbClr val="263445"/>
                </a:solidFill>
                <a:latin typeface="Aptos"/>
              </a:defRPr>
            </a:pPr>
            <a:r>
              <a:t>• Dönüşüm sonrası İstanbul aralığında 111,560 kayıtta koordinat elde edildi.</a:t>
            </a:r>
          </a:p>
          <a:p>
            <a:pPr>
              <a:spcAft>
                <a:spcPts val="1300"/>
              </a:spcAft>
              <a:defRPr sz="1700">
                <a:solidFill>
                  <a:srgbClr val="263445"/>
                </a:solidFill>
                <a:latin typeface="Aptos"/>
              </a:defRPr>
            </a:pPr>
            <a:r>
              <a:t>• Her koordinat ekseninde 23,858 kaynak kaydı boş.</a:t>
            </a:r>
          </a:p>
          <a:p>
            <a:pPr>
              <a:spcAft>
                <a:spcPts val="1300"/>
              </a:spcAft>
              <a:defRPr sz="1700">
                <a:solidFill>
                  <a:srgbClr val="263445"/>
                </a:solidFill>
                <a:latin typeface="Aptos"/>
              </a:defRPr>
            </a:pPr>
            <a:r>
              <a:t>• Eksik koordinatlar tahmin edilmedi; düğüm konumları şimdilik ağ yerleşimiyle görselleştiriliyor.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702552"/>
            <a:ext cx="11265408" cy="1554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52238"/>
                </a:solidFill>
                <a:latin typeface="Aptos"/>
              </a:defRPr>
            </a:pPr>
            <a:r>
              <a:t>Düzeltilmiş topoloji 269 düğüm ve 289 kenar içeriyor.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19088"/>
            <a:ext cx="107899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0">
                <a:solidFill>
                  <a:srgbClr val="536276"/>
                </a:solidFill>
                <a:latin typeface="Aptos"/>
              </a:defRPr>
            </a:pPr>
            <a:r>
              <a:t>SOSYAL AĞ ANALİZİ  •  2025 VERİSİ  •  4/9</a:t>
            </a:r>
          </a:p>
        </p:txBody>
      </p:sp>
      <p:pic>
        <p:nvPicPr>
          <p:cNvPr id="6" name="Picture 5" descr="netwo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583680" cy="35663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69480" y="1417320"/>
            <a:ext cx="42062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Bağlı bileşen sayısı: 2.</a:t>
            </a:r>
          </a:p>
          <a:p>
            <a:pPr>
              <a:spcAft>
                <a:spcPts val="13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En büyük bileşen: 267 düğüm / 288 kenar.</a:t>
            </a:r>
          </a:p>
          <a:p>
            <a:pPr>
              <a:spcAft>
                <a:spcPts val="13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Kenarlar, aynı hattaki ardışık istasyonları temsil ediyor.</a:t>
            </a:r>
          </a:p>
          <a:p>
            <a:pPr>
              <a:spcAft>
                <a:spcPts val="13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Sıra sayısal olarak işlenir; docs/topology_validation.csv hat kaynaklarını ve kalan kontrolleri listeler.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702552"/>
            <a:ext cx="11265408" cy="1554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52238"/>
                </a:solidFill>
                <a:latin typeface="Aptos"/>
              </a:defRPr>
            </a:pPr>
            <a:r>
              <a:t>En büyük bağlı bileşende ortalama yol uzunluğu 16.18 ve çap 51.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19088"/>
            <a:ext cx="107899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0">
                <a:solidFill>
                  <a:srgbClr val="536276"/>
                </a:solidFill>
                <a:latin typeface="Aptos"/>
              </a:defRPr>
            </a:pPr>
            <a:r>
              <a:t>SOSYAL AĞ ANALİZİ  •  2025 VERİSİ  •  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42316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35607"/>
            <a:ext cx="220370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267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276856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En büyük bileşen düğümü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42316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435607"/>
            <a:ext cx="220370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0.008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011680"/>
            <a:ext cx="2276856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Yoğunluk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42316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435607"/>
            <a:ext cx="220370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0.0000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011680"/>
            <a:ext cx="2276856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Ortalama kümelenme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25880"/>
            <a:ext cx="242316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1435607"/>
            <a:ext cx="220370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0.0876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2011680"/>
            <a:ext cx="2276856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Derece assortativity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104241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• Ağ büyük ölçüde hat zincirleri ve aktarma noktalarından oluşuyor.</a:t>
            </a:r>
          </a:p>
          <a:p>
            <a:pPr>
              <a:spcAft>
                <a:spcPts val="13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• Üçgen olmadığı için ortalama kümelenme sıfır çıktı; bu, bu ön topoloji modelinin bir özelliği ve doğrulanmalı.</a:t>
            </a:r>
          </a:p>
          <a:p>
            <a:pPr>
              <a:spcAft>
                <a:spcPts val="13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• Ortalama yol ve çap yalnızca en büyük bağlı bileşen için hesaplandı.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702552"/>
            <a:ext cx="11265408" cy="1554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52238"/>
                </a:solidFill>
                <a:latin typeface="Aptos"/>
              </a:defRPr>
            </a:pPr>
            <a:r>
              <a:t>Merkeziyet sıralaması topolojik aracı istasyonları öne çıkarıyor.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19088"/>
            <a:ext cx="107899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0">
                <a:solidFill>
                  <a:srgbClr val="536276"/>
                </a:solidFill>
                <a:latin typeface="Aptos"/>
              </a:defRPr>
            </a:pPr>
            <a:r>
              <a:t>SOSYAL AĞ ANALİZİ  •  2025 VERİSİ  •  6/9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57607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</a:tblGrid>
              <a:tr h="482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İstasyon düğümü</a:t>
                      </a:r>
                    </a:p>
                  </a:txBody>
                  <a:tcPr marL="73152" marR="45720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Betweenness</a:t>
                      </a:r>
                    </a:p>
                  </a:txBody>
                  <a:tcPr marL="73152" marR="45720">
                    <a:solidFill>
                      <a:srgbClr val="152238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Sirkeci</a:t>
                      </a:r>
                    </a:p>
                  </a:txBody>
                  <a:tcPr marL="73152" marR="45720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0.49041</a:t>
                      </a:r>
                    </a:p>
                  </a:txBody>
                  <a:tcPr marL="73152" marR="45720">
                    <a:solidFill>
                      <a:srgbClr val="F1F6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Üsküdar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0.45194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Yenikapı</a:t>
                      </a:r>
                    </a:p>
                  </a:txBody>
                  <a:tcPr marL="73152" marR="45720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0.45097</a:t>
                      </a:r>
                    </a:p>
                  </a:txBody>
                  <a:tcPr marL="73152" marR="45720">
                    <a:solidFill>
                      <a:srgbClr val="F1F6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Ayrılık Çeşmesi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0.38694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Zeytinburnu</a:t>
                      </a:r>
                    </a:p>
                  </a:txBody>
                  <a:tcPr marL="73152" marR="45720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0.35684</a:t>
                      </a:r>
                    </a:p>
                  </a:txBody>
                  <a:tcPr marL="73152" marR="45720">
                    <a:solidFill>
                      <a:srgbClr val="F1F6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Kazlıçeşme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0.33117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Bostancı / Bostancı (Marmaray)</a:t>
                      </a:r>
                    </a:p>
                  </a:txBody>
                  <a:tcPr marL="73152" marR="45720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0.24712</a:t>
                      </a:r>
                    </a:p>
                  </a:txBody>
                  <a:tcPr marL="73152" marR="45720">
                    <a:solidFill>
                      <a:srgbClr val="F1F6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Bakırköy-İncirli / İncirli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5"/>
                          </a:solidFill>
                          <a:latin typeface="Aptos"/>
                        </a:defRPr>
                      </a:pPr>
                      <a:r>
                        <a:t>0.21966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1463040"/>
            <a:ext cx="46634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Ağırlıksız betweenness, hatlar arası kısa yolların sık geçtiği düğümleri ölçer.</a:t>
            </a:r>
          </a:p>
          <a:p>
            <a:pPr>
              <a:spcAft>
                <a:spcPts val="13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Ağırlıklı ölçüde kenar mesafesi, uç istasyonların ortalama günlük yolcu aktivitesinin tersi olarak tanımlandı.</a:t>
            </a:r>
          </a:p>
          <a:p>
            <a:pPr>
              <a:spcAft>
                <a:spcPts val="13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İki sıralama arasındaki fark araştırma sorusuna cevap verir; sonuçlar topoloji doğrulamasına duyarlı.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702552"/>
            <a:ext cx="11265408" cy="1554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52238"/>
                </a:solidFill>
                <a:latin typeface="Aptos"/>
              </a:defRPr>
            </a:pPr>
            <a:r>
              <a:t>Louvain ön çalışması 20 topluluk buldu.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19088"/>
            <a:ext cx="107899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0">
                <a:solidFill>
                  <a:srgbClr val="536276"/>
                </a:solidFill>
                <a:latin typeface="Aptos"/>
              </a:defRPr>
            </a:pPr>
            <a:r>
              <a:t>SOSYAL AĞ ANALİZİ  •  2025 VERİSİ  •  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7432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35607"/>
            <a:ext cx="252374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2596896" cy="7772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Louvain topluluk sayısı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325880"/>
            <a:ext cx="27432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8" y="1435607"/>
            <a:ext cx="252374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0.8131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2011680"/>
            <a:ext cx="2596896" cy="7772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Modülerlik 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325880"/>
            <a:ext cx="27432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1435607"/>
            <a:ext cx="252374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76B87"/>
                </a:solidFill>
                <a:latin typeface="Aptos"/>
              </a:defRPr>
            </a:pPr>
            <a:r>
              <a:t>0.944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011680"/>
            <a:ext cx="2596896" cy="7772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536276"/>
                </a:solidFill>
                <a:latin typeface="Aptos"/>
              </a:defRPr>
            </a:pPr>
            <a:r>
              <a:t>Ortalama ARI (10 tohum)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104241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63445"/>
                </a:solidFill>
                <a:latin typeface="Aptos"/>
              </a:defRPr>
            </a:pPr>
            <a:r>
              <a:t>• Kuzeybatı metro-tramvay koridoru (M7–T4): 29 düğüm; baskın hatlar T5, T4, M7; yolcu aktivitesi yüksek istasyonlar: Karadeniz Mahallesi / Kiptaş Venezia, Alibeyköy Metro.</a:t>
            </a:r>
          </a:p>
          <a:p>
            <a:pPr>
              <a:spcAft>
                <a:spcPts val="1300"/>
              </a:spcAft>
              <a:defRPr sz="1300">
                <a:solidFill>
                  <a:srgbClr val="263445"/>
                </a:solidFill>
                <a:latin typeface="Aptos"/>
              </a:defRPr>
            </a:pPr>
            <a:r>
              <a:t>• Batı raylı sistem aktarma koridoru (M1–M3): 20 düğüm; baskın hatlar M1, MAR, M3; yolcu aktivitesi yüksek istasyonlar: Zeytinburnu, Bakırköy (Marmaray).</a:t>
            </a:r>
          </a:p>
          <a:p>
            <a:pPr>
              <a:spcAft>
                <a:spcPts val="1300"/>
              </a:spcAft>
              <a:defRPr sz="1300">
                <a:solidFill>
                  <a:srgbClr val="263445"/>
                </a:solidFill>
                <a:latin typeface="Aptos"/>
              </a:defRPr>
            </a:pPr>
            <a:r>
              <a:t>• M1–T1 merkez-batı aktarma çevresi: 19 düğüm; baskın hatlar M1, T1, T4; yolcu aktivitesi yüksek istasyonlar: Topkapı, Cevizlibağ-AÖY.</a:t>
            </a:r>
          </a:p>
          <a:p>
            <a:pPr>
              <a:spcAft>
                <a:spcPts val="1300"/>
              </a:spcAft>
              <a:defRPr sz="1300">
                <a:solidFill>
                  <a:srgbClr val="263445"/>
                </a:solidFill>
                <a:latin typeface="Aptos"/>
              </a:defRPr>
            </a:pPr>
            <a:r>
              <a:t>• M9 / M3 ağırlıklı istasyon topluluğu: 19 düğüm; baskın hatlar M9, M3; yolcu aktivitesi yüksek istasyonlar: Şehir Hastanesi, Olimpiyat.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702552"/>
            <a:ext cx="11265408" cy="1554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52238"/>
                </a:solidFill>
                <a:latin typeface="Aptos"/>
              </a:defRPr>
            </a:pPr>
            <a:r>
              <a:t>İstasyon kapanma testi gerçek yolcu kayması değil, topolojik yeniden yönelmedir.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19088"/>
            <a:ext cx="107899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0">
                <a:solidFill>
                  <a:srgbClr val="536276"/>
                </a:solidFill>
                <a:latin typeface="Aptos"/>
              </a:defRPr>
            </a:pPr>
            <a:r>
              <a:t>SOSYAL AĞ ANALİZİ  •  2025 VERİSİ  •  8/9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332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176B87"/>
                </a:solidFill>
                <a:latin typeface="Aptos"/>
              </a:defRPr>
            </a:pPr>
            <a:r>
              <a:t>Kapanma adayı: Sirkeci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4241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Bileşen sayısı: 2 → 3.</a:t>
            </a:r>
          </a:p>
          <a:p>
            <a:pPr>
              <a:spcAft>
                <a:spcPts val="13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En büyük bileşen düğümü: 267 → 177.</a:t>
            </a:r>
          </a:p>
          <a:p>
            <a:pPr>
              <a:spcAft>
                <a:spcPts val="13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Bağlı düğüm çifti oranı: 0.985 → 0.545; global efficiency: 0.0925 → 0.0654.</a:t>
            </a:r>
          </a:p>
          <a:p>
            <a:pPr>
              <a:spcAft>
                <a:spcPts val="13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Bu, düğüm ve kenarlarının silindiği idealize topolojik senaryodur; gerçek yolcu kayması değildir.</a:t>
            </a:r>
          </a:p>
          <a:p>
            <a:pPr>
              <a:spcAft>
                <a:spcPts val="13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OD matrisi olmadığı için yolcu hacminin hangi hatta ne kadar kayacağı hesaplanamaz.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702552"/>
            <a:ext cx="11265408" cy="1554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52238"/>
                </a:solidFill>
                <a:latin typeface="Aptos"/>
              </a:defRPr>
            </a:pPr>
            <a:r>
              <a:t>Sonuçlar ve teslim öncesi açık kontroller.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419088"/>
            <a:ext cx="107899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0">
                <a:solidFill>
                  <a:srgbClr val="536276"/>
                </a:solidFill>
                <a:latin typeface="Aptos"/>
              </a:defRPr>
            </a:pPr>
            <a:r>
              <a:t>SOSYAL AĞ ANALİZİ  •  2025 VERİSİ  •  9/9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4241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Null model: 100/100 tekrar</a:t>
            </a:r>
          </a:p>
          <a:p>
            <a:pPr>
              <a:spcAft>
                <a:spcPts val="13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Leiden: not calculated: ModuleNotFoundError: No module named 'igraph'</a:t>
            </a:r>
          </a:p>
          <a:p>
            <a:pPr>
              <a:spcAft>
                <a:spcPts val="13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Power-law / exponential / lognormal karşılaştırması: not calculated</a:t>
            </a:r>
          </a:p>
          <a:p>
            <a:pPr>
              <a:spcAft>
                <a:spcPts val="13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Genel yönergede en az 500 düğüm şartı var; mevcut gerçek istasyon grafiği daha küçük. Düğüm uydurulmadı; kapsam öğretim elemanıyla netleştirilmeli.</a:t>
            </a:r>
          </a:p>
          <a:p>
            <a:pPr>
              <a:spcAft>
                <a:spcPts val="13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İstasyonlar arası OD matrisi bulunmadığından kenar ağırlığı yolcu aktivitesi vekilidir; kapanma analizi gerçek yolcu yük kayması değildir.</a:t>
            </a:r>
          </a:p>
          <a:p>
            <a:pPr>
              <a:spcAft>
                <a:spcPts val="13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Etkileşimli HTML: web/interactive_network.html; A3 poster: outputs/ag_posteri_A3_TASLAK.pdf.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532120"/>
            <a:ext cx="10424160" cy="594360"/>
          </a:xfrm>
          <a:prstGeom prst="roundRect">
            <a:avLst/>
          </a:prstGeom>
          <a:solidFill>
            <a:srgbClr val="FFF5F5"/>
          </a:solidFill>
          <a:ln>
            <a:solidFill>
              <a:srgbClr val="E6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60136"/>
            <a:ext cx="10058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962F2F"/>
                </a:solidFill>
                <a:latin typeface="Aptos"/>
              </a:defRPr>
            </a:pPr>
            <a:r>
              <a:t>Sunumda her yöntemi kendi cümlenle açıkla; hesaplanmayan veya doğrulanmayan sonucu kesin bulgu olarak sunma.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